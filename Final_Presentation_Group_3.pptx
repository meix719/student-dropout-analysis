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Black"/>
      <p:bold r:id="rId20"/>
      <p:boldItalic r:id="rId21"/>
    </p:embeddedFont>
    <p:embeddedFont>
      <p:font typeface="Montserrat ExtraBold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urSL3UueVD/ij826yu6iwuP0L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.fntdata"/><Relationship Id="rId11" Type="http://schemas.openxmlformats.org/officeDocument/2006/relationships/slide" Target="slides/slide5.xml"/><Relationship Id="rId22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21" Type="http://schemas.openxmlformats.org/officeDocument/2006/relationships/font" Target="fonts/MontserratBlack-boldItalic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Montserrat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30 sec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one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One min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c2dbf21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min</a:t>
            </a:r>
            <a:endParaRPr/>
          </a:p>
        </p:txBody>
      </p:sp>
      <p:sp>
        <p:nvSpPr>
          <p:cNvPr id="260" name="Google Shape;260;g3dc2dbf21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min</a:t>
            </a:r>
            <a:endParaRPr/>
          </a:p>
        </p:txBody>
      </p:sp>
      <p:sp>
        <p:nvSpPr>
          <p:cNvPr id="268" name="Google Shape;26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2dbf2118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dc2dbf2118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Two min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c2dbf2118_1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 min</a:t>
            </a:r>
            <a:endParaRPr/>
          </a:p>
        </p:txBody>
      </p:sp>
      <p:sp>
        <p:nvSpPr>
          <p:cNvPr id="286" name="Google Shape;286;g3dc2dbf2118_1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c2dbf2118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min</a:t>
            </a:r>
            <a:endParaRPr/>
          </a:p>
        </p:txBody>
      </p:sp>
      <p:sp>
        <p:nvSpPr>
          <p:cNvPr id="294" name="Google Shape;294;g3dc2dbf2118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2min</a:t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jp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Relationship Id="rId3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0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" name="Google Shape;16;p11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7" name="Google Shape;1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" name="Google Shape;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2" name="Google Shape;2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" name="Google Shape;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29" name="Google Shape;2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" name="Google Shape;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35" name="Google Shape;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41" name="Google Shape;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6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6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52" name="Google Shape;52;p17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 " id="53" name="Google Shape;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5" name="Google Shape;55;p17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60" name="Google Shape;6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9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20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1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22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3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23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23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4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24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24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2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2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6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1" name="Google Shape;1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dc2dbf2118_1_2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dc2dbf2118_1_24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22" name="Google Shape;122;g3dc2dbf2118_1_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dc2dbf2118_1_24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dc2dbf2118_1_24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c2dbf2118_1_255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27" name="Google Shape;127;g3dc2dbf2118_1_255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28" name="Google Shape;128;g3dc2dbf2118_1_2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dc2dbf2118_1_25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g3dc2dbf2118_1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c2dbf2118_1_261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33" name="Google Shape;133;g3dc2dbf2118_1_2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c2dbf2118_1_261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5" name="Google Shape;135;g3dc2dbf2118_1_261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6" name="Google Shape;136;g3dc2dbf2118_1_26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g3dc2dbf2118_1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c2dbf2118_1_268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40" name="Google Shape;140;g3dc2dbf2118_1_2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c2dbf2118_1_26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g3dc2dbf2118_1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dc2dbf2118_1_2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c2dbf2118_1_27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46" name="Google Shape;146;g3dc2dbf2118_1_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dc2dbf2118_1_27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dc2dbf2118_1_27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dc2dbf2118_1_2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dc2dbf2118_1_279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52" name="Google Shape;152;g3dc2dbf2118_1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dc2dbf2118_1_279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dc2dbf2118_1_279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dc2dbf2118_1_2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dc2dbf2118_1_28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58" name="Google Shape;158;g3dc2dbf2118_1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c2dbf2118_1_28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dc2dbf2118_1_28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dc2dbf2118_1_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163" name="Google Shape;163;g3dc2dbf2118_1_291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 " id="164" name="Google Shape;164;g3dc2dbf2118_1_2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dc2dbf2118_1_291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g3dc2dbf2118_1_291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c2dbf2118_1_29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69" name="Google Shape;169;g3dc2dbf2118_1_29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g3dc2dbf2118_1_29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171" name="Google Shape;171;g3dc2dbf2118_1_2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dc2dbf2118_1_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dc2dbf2118_1_3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dc2dbf2118_1_303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176" name="Google Shape;176;g3dc2dbf2118_1_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dc2dbf2118_1_30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179" name="Google Shape;179;g3dc2dbf2118_1_30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dc2dbf2118_1_308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1" name="Google Shape;181;g3dc2dbf2118_1_308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2" name="Google Shape;182;g3dc2dbf2118_1_308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183" name="Google Shape;183;g3dc2dbf2118_1_3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dc2dbf2118_1_30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86" name="Google Shape;186;g3dc2dbf2118_1_3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c2dbf2118_1_315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188" name="Google Shape;188;g3dc2dbf2118_1_315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9" name="Google Shape;189;g3dc2dbf2118_1_3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g3dc2dbf2118_1_3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92" name="Google Shape;192;g3dc2dbf2118_1_3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dc2dbf2118_1_3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dc2dbf2118_1_321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dc2dbf2118_1_3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dc2dbf2118_1_3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dc2dbf2118_1_32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9" name="Google Shape;199;g3dc2dbf2118_1_32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00" name="Google Shape;200;g3dc2dbf2118_1_32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3dc2dbf2118_1_32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dc2dbf2118_1_3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c2dbf2118_1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c2dbf2118_1_332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6" name="Google Shape;206;g3dc2dbf2118_1_332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07" name="Google Shape;207;g3dc2dbf2118_1_332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dc2dbf2118_1_33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3dc2dbf2118_1_3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dc2dbf2118_1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dc2dbf2118_1_339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3" name="Google Shape;213;g3dc2dbf2118_1_339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b="0" i="0" sz="4200" u="none" cap="none" strike="noStrike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14" name="Google Shape;214;g3dc2dbf2118_1_339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g3dc2dbf2118_1_33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c2dbf2118_1_346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g3dc2dbf2118_1_346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219" name="Google Shape;219;g3dc2dbf2118_1_3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dc2dbf2118_1_34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3dc2dbf2118_1_346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2" name="Google Shape;222;g3dc2dbf2118_1_3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g3dc2dbf2118_1_3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dc2dbf2118_1_35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1" i="0" lang="en" sz="7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700" u="none" cap="none" strike="noStrike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8.xml"/><Relationship Id="rId6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b="0" i="0" sz="4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c2dbf2118_1_246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b="0" i="0" sz="42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g3dc2dbf2118_1_246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STUDENT DROPOUT</a:t>
            </a:r>
            <a:endParaRPr/>
          </a:p>
        </p:txBody>
      </p:sp>
      <p:sp>
        <p:nvSpPr>
          <p:cNvPr id="232" name="Google Shape;232;p1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/>
              <a:t>A Two-Stage Targeting Model for Caldwell University</a:t>
            </a:r>
            <a:endParaRPr/>
          </a:p>
        </p:txBody>
      </p:sp>
      <p:sp>
        <p:nvSpPr>
          <p:cNvPr id="233" name="Google Shape;233;p1"/>
          <p:cNvSpPr txBox="1"/>
          <p:nvPr>
            <p:ph idx="2" type="body"/>
          </p:nvPr>
        </p:nvSpPr>
        <p:spPr>
          <a:xfrm>
            <a:off x="307600" y="4275150"/>
            <a:ext cx="55788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GROUP 3  |  Weimin Wu  |  Qunfeng Zhou  |  Mei Qiong Xue   |  Yufei Cai 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05/05/2026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THE PROBLEM &amp; THE EVIDENCE</a:t>
            </a:r>
            <a:endParaRPr/>
          </a:p>
        </p:txBody>
      </p:sp>
      <p:sp>
        <p:nvSpPr>
          <p:cNvPr id="239" name="Google Shape;239;p2"/>
          <p:cNvSpPr txBox="1"/>
          <p:nvPr>
            <p:ph idx="1" type="body"/>
          </p:nvPr>
        </p:nvSpPr>
        <p:spPr>
          <a:xfrm>
            <a:off x="311700" y="1500000"/>
            <a:ext cx="4100000" cy="3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60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25.6%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solidFill>
                  <a:srgbClr val="666666"/>
                </a:solidFill>
              </a:rPr>
              <a:t>of Caldwell students withdraw — 115 of 450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rgbClr val="57068C"/>
                </a:solidFill>
              </a:rPr>
              <a:t>The decision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How should the Dean of Student Success allocate finite advising capacity across hundreds of students each term?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i="1" lang="en" sz="1100">
                <a:solidFill>
                  <a:srgbClr val="666666"/>
                </a:solidFill>
              </a:rPr>
              <a:t>A missed at-risk student costs 30x more than a false flag — </a:t>
            </a:r>
            <a:r>
              <a:rPr b="1" lang="en" sz="1100">
                <a:solidFill>
                  <a:srgbClr val="57068C"/>
                </a:solidFill>
              </a:rPr>
              <a:t>recall over precision.</a:t>
            </a:r>
            <a:endParaRPr/>
          </a:p>
        </p:txBody>
      </p:sp>
      <p:sp>
        <p:nvSpPr>
          <p:cNvPr id="240" name="Google Shape;240;p2"/>
          <p:cNvSpPr txBox="1"/>
          <p:nvPr/>
        </p:nvSpPr>
        <p:spPr>
          <a:xfrm>
            <a:off x="4800000" y="1500000"/>
            <a:ext cx="4100000" cy="3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57068C"/>
                </a:solidFill>
                <a:latin typeface="Arial"/>
                <a:ea typeface="Arial"/>
                <a:cs typeface="Arial"/>
                <a:sym typeface="Arial"/>
              </a:rPr>
              <a:t>Dropout risk by Credit Completion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Risk concentrates sharply with academic struggle.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4800000" y="235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50% completed</a:t>
            </a:r>
            <a:endParaRPr/>
          </a:p>
        </p:txBody>
      </p:sp>
      <p:sp>
        <p:nvSpPr>
          <p:cNvPr id="242" name="Google Shape;242;p2"/>
          <p:cNvSpPr/>
          <p:nvPr/>
        </p:nvSpPr>
        <p:spPr>
          <a:xfrm>
            <a:off x="6100000" y="2400000"/>
            <a:ext cx="2400000" cy="24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anchorCtr="0" anchor="ctr" bIns="0" lIns="100000" spcFirstLastPara="1" rIns="10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62.3%</a:t>
            </a:r>
            <a:endParaRPr/>
          </a:p>
        </p:txBody>
      </p:sp>
      <p:sp>
        <p:nvSpPr>
          <p:cNvPr id="243" name="Google Shape;243;p2"/>
          <p:cNvSpPr txBox="1"/>
          <p:nvPr/>
        </p:nvSpPr>
        <p:spPr>
          <a:xfrm>
            <a:off x="4800000" y="275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50–70%</a:t>
            </a:r>
            <a:endParaRPr/>
          </a:p>
        </p:txBody>
      </p:sp>
      <p:sp>
        <p:nvSpPr>
          <p:cNvPr id="244" name="Google Shape;244;p2"/>
          <p:cNvSpPr/>
          <p:nvPr/>
        </p:nvSpPr>
        <p:spPr>
          <a:xfrm>
            <a:off x="6100000" y="2800000"/>
            <a:ext cx="1050000" cy="240000"/>
          </a:xfrm>
          <a:prstGeom prst="rect">
            <a:avLst/>
          </a:prstGeom>
          <a:solidFill>
            <a:srgbClr val="8B5CB8"/>
          </a:solidFill>
          <a:ln>
            <a:noFill/>
          </a:ln>
        </p:spPr>
        <p:txBody>
          <a:bodyPr anchorCtr="0" anchor="ctr" bIns="0" lIns="100000" spcFirstLastPara="1" rIns="10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27.3%</a:t>
            </a:r>
            <a:endParaRPr/>
          </a:p>
        </p:txBody>
      </p:sp>
      <p:sp>
        <p:nvSpPr>
          <p:cNvPr id="245" name="Google Shape;245;p2"/>
          <p:cNvSpPr txBox="1"/>
          <p:nvPr/>
        </p:nvSpPr>
        <p:spPr>
          <a:xfrm>
            <a:off x="4800000" y="315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70–85%</a:t>
            </a:r>
            <a:endParaRPr/>
          </a:p>
        </p:txBody>
      </p:sp>
      <p:sp>
        <p:nvSpPr>
          <p:cNvPr id="246" name="Google Shape;246;p2"/>
          <p:cNvSpPr/>
          <p:nvPr/>
        </p:nvSpPr>
        <p:spPr>
          <a:xfrm>
            <a:off x="6100000" y="3200000"/>
            <a:ext cx="699900" cy="240000"/>
          </a:xfrm>
          <a:prstGeom prst="rect">
            <a:avLst/>
          </a:prstGeom>
          <a:solidFill>
            <a:srgbClr val="C9ABDB"/>
          </a:solidFill>
          <a:ln>
            <a:noFill/>
          </a:ln>
        </p:spPr>
        <p:txBody>
          <a:bodyPr anchorCtr="0" anchor="ctr" bIns="0" lIns="100000" spcFirstLastPara="1" rIns="10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14.3%</a:t>
            </a:r>
            <a:endParaRPr/>
          </a:p>
        </p:txBody>
      </p:sp>
      <p:sp>
        <p:nvSpPr>
          <p:cNvPr id="247" name="Google Shape;247;p2"/>
          <p:cNvSpPr txBox="1"/>
          <p:nvPr/>
        </p:nvSpPr>
        <p:spPr>
          <a:xfrm>
            <a:off x="4800000" y="3550000"/>
            <a:ext cx="13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85%+</a:t>
            </a:r>
            <a:endParaRPr/>
          </a:p>
        </p:txBody>
      </p:sp>
      <p:sp>
        <p:nvSpPr>
          <p:cNvPr id="248" name="Google Shape;248;p2"/>
          <p:cNvSpPr/>
          <p:nvPr/>
        </p:nvSpPr>
        <p:spPr>
          <a:xfrm>
            <a:off x="6100000" y="3600000"/>
            <a:ext cx="150000" cy="240000"/>
          </a:xfrm>
          <a:prstGeom prst="rect">
            <a:avLst/>
          </a:prstGeom>
          <a:solidFill>
            <a:srgbClr val="E5D5EE"/>
          </a:solidFill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 txBox="1"/>
          <p:nvPr/>
        </p:nvSpPr>
        <p:spPr>
          <a:xfrm>
            <a:off x="6260000" y="355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00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3.7%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 TWO-STAGE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255" name="Google Shape;255;p3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000">
                <a:solidFill>
                  <a:srgbClr val="999999"/>
                </a:solidFill>
              </a:rPr>
              <a:t>STAGE 1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rgbClr val="57068C"/>
                </a:solidFill>
              </a:rPr>
              <a:t>Classification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Random Forest screens which students are at elevated risk. Tuned for </a:t>
            </a:r>
            <a:r>
              <a:rPr b="1" lang="en" sz="1200">
                <a:solidFill>
                  <a:srgbClr val="57068C"/>
                </a:solidFill>
              </a:rPr>
              <a:t>recall</a:t>
            </a:r>
            <a:r>
              <a:rPr lang="en" sz="1200"/>
              <a:t> over precision — missing an at-risk student costs 30x more than a false flag.</a:t>
            </a:r>
            <a:endParaRPr/>
          </a:p>
        </p:txBody>
      </p:sp>
      <p:cxnSp>
        <p:nvCxnSpPr>
          <p:cNvPr id="256" name="Google Shape;256;p3"/>
          <p:cNvCxnSpPr/>
          <p:nvPr/>
        </p:nvCxnSpPr>
        <p:spPr>
          <a:xfrm>
            <a:off x="418229" y="2012625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3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000">
                <a:solidFill>
                  <a:srgbClr val="999999"/>
                </a:solidFill>
              </a:rPr>
              <a:t>STAGE 2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rgbClr val="57068C"/>
                </a:solidFill>
              </a:rPr>
              <a:t>Prediction</a:t>
            </a:r>
            <a:endParaRPr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Linear regression on the 115 dropouts predicts how far along flagged students will be when they leave. Separates </a:t>
            </a:r>
            <a:r>
              <a:rPr b="1" lang="en" sz="1200">
                <a:solidFill>
                  <a:srgbClr val="57068C"/>
                </a:solidFill>
              </a:rPr>
              <a:t>urgency tiers</a:t>
            </a:r>
            <a:r>
              <a:rPr lang="en" sz="1200"/>
              <a:t> so the Dean can match intervention type to expected exit timing.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c2dbf2118_1_0"/>
          <p:cNvSpPr txBox="1"/>
          <p:nvPr>
            <p:ph type="title"/>
          </p:nvPr>
        </p:nvSpPr>
        <p:spPr>
          <a:xfrm>
            <a:off x="311700" y="370250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STAGE 1 RESULTS</a:t>
            </a:r>
            <a:endParaRPr/>
          </a:p>
        </p:txBody>
      </p:sp>
      <p:pic>
        <p:nvPicPr>
          <p:cNvPr id="263" name="Google Shape;263;g3dc2dbf211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50" y="1541975"/>
            <a:ext cx="8096303" cy="28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dc2dbf2118_1_0"/>
          <p:cNvSpPr txBox="1"/>
          <p:nvPr/>
        </p:nvSpPr>
        <p:spPr>
          <a:xfrm>
            <a:off x="2920450" y="4392775"/>
            <a:ext cx="5699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AUC = 0.744. Recall = 30% on the dropout class — the optimization target. </a:t>
            </a:r>
            <a:endParaRPr b="0" i="1" sz="9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Top features: GPA (0.27) and Credit Completion Ratio (0.19) drive 45% of predictive power.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dc2dbf2118_1_0"/>
          <p:cNvSpPr/>
          <p:nvPr/>
        </p:nvSpPr>
        <p:spPr>
          <a:xfrm>
            <a:off x="311700" y="1020000"/>
            <a:ext cx="8520000" cy="380100"/>
          </a:xfrm>
          <a:prstGeom prst="rect">
            <a:avLst/>
          </a:prstGeom>
          <a:solidFill>
            <a:srgbClr val="F3F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0082"/>
                </a:solidFill>
                <a:latin typeface="Arial"/>
                <a:ea typeface="Arial"/>
                <a:cs typeface="Arial"/>
                <a:sym typeface="Arial"/>
              </a:rPr>
              <a:t>Accuracy: 73%</a:t>
            </a:r>
            <a:r>
              <a:rPr b="0" i="0" lang="en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   |     </a:t>
            </a:r>
            <a:r>
              <a:rPr b="1" i="0" lang="en" sz="1100" u="none" cap="none" strike="noStrike">
                <a:solidFill>
                  <a:srgbClr val="4B0082"/>
                </a:solidFill>
                <a:latin typeface="Arial"/>
                <a:ea typeface="Arial"/>
                <a:cs typeface="Arial"/>
                <a:sym typeface="Arial"/>
              </a:rPr>
              <a:t>Precision: 47%</a:t>
            </a:r>
            <a:r>
              <a:rPr b="0" i="0" lang="en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   |     </a:t>
            </a:r>
            <a:r>
              <a:rPr b="1" i="0" lang="en" sz="11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Recall: 30%</a:t>
            </a:r>
            <a:r>
              <a:rPr b="0" i="0" lang="en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★ optimization target     |     </a:t>
            </a:r>
            <a:r>
              <a:rPr b="1" i="0" lang="en" sz="1100" u="none" cap="none" strike="noStrike">
                <a:solidFill>
                  <a:srgbClr val="4B0082"/>
                </a:solidFill>
                <a:latin typeface="Arial"/>
                <a:ea typeface="Arial"/>
                <a:cs typeface="Arial"/>
                <a:sym typeface="Arial"/>
              </a:rPr>
              <a:t>F1: 0.37</a:t>
            </a:r>
            <a:r>
              <a:rPr b="0" i="0" lang="en" sz="11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   |     </a:t>
            </a:r>
            <a:r>
              <a:rPr b="1" i="0" lang="en" sz="1100" u="none" cap="none" strike="noStrike">
                <a:solidFill>
                  <a:srgbClr val="4B0082"/>
                </a:solidFill>
                <a:latin typeface="Arial"/>
                <a:ea typeface="Arial"/>
                <a:cs typeface="Arial"/>
                <a:sym typeface="Arial"/>
              </a:rPr>
              <a:t>AUC-ROC: 0.744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STAGE 2 RESULTS</a:t>
            </a:r>
            <a:endParaRPr/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00000"/>
            <a:ext cx="3800000" cy="35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"/>
          <p:cNvSpPr txBox="1"/>
          <p:nvPr/>
        </p:nvSpPr>
        <p:spPr>
          <a:xfrm>
            <a:off x="4400000" y="1300000"/>
            <a:ext cx="4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57068C"/>
                </a:solidFill>
                <a:latin typeface="Arial"/>
                <a:ea typeface="Arial"/>
                <a:cs typeface="Arial"/>
                <a:sym typeface="Arial"/>
              </a:rPr>
              <a:t>Two distinct dropout profiles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Splitting at the median (49 credits)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4400000" y="2050000"/>
            <a:ext cx="2100000" cy="2400000"/>
          </a:xfrm>
          <a:prstGeom prst="rect">
            <a:avLst/>
          </a:prstGeom>
          <a:solidFill>
            <a:srgbClr val="F4ECF8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57068C"/>
                </a:solidFill>
                <a:latin typeface="Arial"/>
                <a:ea typeface="Arial"/>
                <a:cs typeface="Arial"/>
                <a:sym typeface="Arial"/>
              </a:rPr>
              <a:t>EARLY (n=57)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AVG GPA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2.02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WORK HRS/WK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18.7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57068C"/>
                </a:solidFill>
                <a:latin typeface="Arial"/>
                <a:ea typeface="Arial"/>
                <a:cs typeface="Arial"/>
                <a:sym typeface="Arial"/>
              </a:rPr>
              <a:t>→ Academic intervention</a:t>
            </a:r>
            <a:endParaRPr/>
          </a:p>
        </p:txBody>
      </p:sp>
      <p:sp>
        <p:nvSpPr>
          <p:cNvPr id="274" name="Google Shape;274;p5"/>
          <p:cNvSpPr txBox="1"/>
          <p:nvPr/>
        </p:nvSpPr>
        <p:spPr>
          <a:xfrm>
            <a:off x="6700000" y="2050000"/>
            <a:ext cx="2100000" cy="24000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anchorCtr="0" anchor="t" bIns="180000" lIns="180000" spcFirstLastPara="1" rIns="180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 (n=58)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9ABDB"/>
                </a:solidFill>
                <a:latin typeface="Arial"/>
                <a:ea typeface="Arial"/>
                <a:cs typeface="Arial"/>
                <a:sym typeface="Arial"/>
              </a:rPr>
              <a:t>AVG GPA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2.47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9ABDB"/>
                </a:solidFill>
                <a:latin typeface="Arial"/>
                <a:ea typeface="Arial"/>
                <a:cs typeface="Arial"/>
                <a:sym typeface="Arial"/>
              </a:rPr>
              <a:t>WORK HRS/WK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25.9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Financial / scheduling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c2dbf2118_1_238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RECOMMENDATIONS &amp; STAKEHOLDERS</a:t>
            </a:r>
            <a:endParaRPr/>
          </a:p>
        </p:txBody>
      </p:sp>
      <p:sp>
        <p:nvSpPr>
          <p:cNvPr id="280" name="Google Shape;280;g3dc2dbf2118_1_238"/>
          <p:cNvSpPr txBox="1"/>
          <p:nvPr/>
        </p:nvSpPr>
        <p:spPr>
          <a:xfrm>
            <a:off x="793050" y="1639950"/>
            <a:ext cx="2238000" cy="2437500"/>
          </a:xfrm>
          <a:prstGeom prst="rect">
            <a:avLst/>
          </a:prstGeom>
          <a:solidFill>
            <a:srgbClr val="F4EC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HIGH-TOUCH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WHO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Early-dropout profiles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Tutoring, course-load adjustment, probation review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Weekly contact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Early loss &gt; $15K; fastest ROI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dc2dbf2118_1_238"/>
          <p:cNvSpPr txBox="1"/>
          <p:nvPr/>
        </p:nvSpPr>
        <p:spPr>
          <a:xfrm>
            <a:off x="3375450" y="1639950"/>
            <a:ext cx="22974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BI-WEEKLY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WHO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Late-dropout profiles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Financial aid counseling, flexible enrollment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Bi-weekly meetings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Financial pressure, not GPA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dc2dbf2118_1_238"/>
          <p:cNvSpPr txBox="1"/>
          <p:nvPr/>
        </p:nvSpPr>
        <p:spPr>
          <a:xfrm>
            <a:off x="6017250" y="1639950"/>
            <a:ext cx="22974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WHO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Lower-risk flagged students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Standard advising with risk score visible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Monthly check-in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Preserve capacity for high-risk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dc2dbf2118_1_238"/>
          <p:cNvSpPr/>
          <p:nvPr/>
        </p:nvSpPr>
        <p:spPr>
          <a:xfrm>
            <a:off x="793050" y="4193950"/>
            <a:ext cx="7970700" cy="2898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B0082"/>
                </a:solidFill>
                <a:latin typeface="Montserrat"/>
                <a:ea typeface="Montserrat"/>
                <a:cs typeface="Montserrat"/>
                <a:sym typeface="Montserrat"/>
              </a:rPr>
              <a:t>STAKEHOLDERS: </a:t>
            </a:r>
            <a:r>
              <a:rPr b="0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Dean of Student Success (decision)</a:t>
            </a: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b="0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Academic Advisors (execution)</a:t>
            </a:r>
            <a:r>
              <a:rPr b="0" i="0" lang="en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b="0" i="0" lang="en" sz="9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Financial Aid &amp; Mentoring (support)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2dbf2118_1_357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EXPECTED VALUE</a:t>
            </a:r>
            <a:endParaRPr/>
          </a:p>
        </p:txBody>
      </p:sp>
      <p:sp>
        <p:nvSpPr>
          <p:cNvPr id="289" name="Google Shape;289;g3dc2dbf2118_1_357"/>
          <p:cNvSpPr txBox="1"/>
          <p:nvPr>
            <p:ph idx="1" type="body"/>
          </p:nvPr>
        </p:nvSpPr>
        <p:spPr>
          <a:xfrm>
            <a:off x="440650" y="1587425"/>
            <a:ext cx="7818300" cy="27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solidFill>
                  <a:srgbClr val="999999"/>
                </a:solidFill>
              </a:rPr>
              <a:t>EV ON TEST COHORT (n=90)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</a:pPr>
            <a:r>
              <a:rPr b="1" lang="en" sz="1700">
                <a:solidFill>
                  <a:srgbClr val="57068C"/>
                </a:solidFill>
              </a:rPr>
              <a:t>Three retention scenarios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rPr i="1" lang="en" sz="1100">
                <a:solidFill>
                  <a:srgbClr val="888888"/>
                </a:solidFill>
              </a:rPr>
              <a:t>Based on 7 true positives — 15 students flagged for intervention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Conservative (5% lift)        </a:t>
            </a:r>
            <a:r>
              <a:rPr b="1" lang="en" sz="1500">
                <a:solidFill>
                  <a:srgbClr val="C00000"/>
                </a:solidFill>
              </a:rPr>
              <a:t>−$2,250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Base (10% lift)                  </a:t>
            </a:r>
            <a:r>
              <a:rPr b="1" lang="en" sz="1500">
                <a:solidFill>
                  <a:srgbClr val="57068C"/>
                </a:solidFill>
              </a:rPr>
              <a:t>+$3,000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Optimistic (20% lift)         </a:t>
            </a:r>
            <a:r>
              <a:rPr b="1" lang="en" sz="1500">
                <a:solidFill>
                  <a:srgbClr val="00703C"/>
                </a:solidFill>
              </a:rPr>
              <a:t>+$13,500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i="1" lang="en" sz="1100">
                <a:solidFill>
                  <a:srgbClr val="666666"/>
                </a:solidFill>
              </a:rPr>
              <a:t>$15K saved per retained student | $500 outreach cost per flag</a:t>
            </a:r>
            <a:endParaRPr sz="1400"/>
          </a:p>
        </p:txBody>
      </p:sp>
      <p:cxnSp>
        <p:nvCxnSpPr>
          <p:cNvPr id="290" name="Google Shape;290;g3dc2dbf2118_1_357"/>
          <p:cNvCxnSpPr/>
          <p:nvPr/>
        </p:nvCxnSpPr>
        <p:spPr>
          <a:xfrm>
            <a:off x="440654" y="1250075"/>
            <a:ext cx="6216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1" name="Google Shape;291;g3dc2dbf2118_1_357" title="Screenshot 2026-05-05 at 12.17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1225" y="1028700"/>
            <a:ext cx="3389650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c2dbf2118_1_363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MEASUREMENT PLAN</a:t>
            </a:r>
            <a:endParaRPr/>
          </a:p>
        </p:txBody>
      </p:sp>
      <p:sp>
        <p:nvSpPr>
          <p:cNvPr id="297" name="Google Shape;297;g3dc2dbf2118_1_363"/>
          <p:cNvSpPr txBox="1"/>
          <p:nvPr/>
        </p:nvSpPr>
        <p:spPr>
          <a:xfrm>
            <a:off x="311700" y="1700000"/>
            <a:ext cx="3900000" cy="2067900"/>
          </a:xfrm>
          <a:prstGeom prst="rect">
            <a:avLst/>
          </a:prstGeom>
          <a:solidFill>
            <a:srgbClr val="F3F0FA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5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TECHNICAL KPIs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20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Recall, Precision, F1, AUC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5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Refresh every term to confirm model remains useful as a screening tool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dc2dbf2118_1_363"/>
          <p:cNvSpPr txBox="1"/>
          <p:nvPr/>
        </p:nvSpPr>
        <p:spPr>
          <a:xfrm>
            <a:off x="4411700" y="1700000"/>
            <a:ext cx="4419900" cy="20679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500" u="none" cap="none" strike="noStrike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BUSINESS KPIs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2000" u="none" cap="none" strike="noStrike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Institutional outcomes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Dropout rate</a:t>
            </a:r>
            <a:r>
              <a:rPr i="0" lang="en" sz="15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in flagged cohort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Retention lift</a:t>
            </a:r>
            <a:r>
              <a:rPr i="0" lang="en" sz="15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vs. baseline cohort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Cost per retained student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Tuition revenue protected</a:t>
            </a:r>
            <a:endParaRPr i="0" sz="1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g3dc2dbf2118_1_363"/>
          <p:cNvSpPr/>
          <p:nvPr/>
        </p:nvSpPr>
        <p:spPr>
          <a:xfrm>
            <a:off x="311700" y="3934650"/>
            <a:ext cx="8520000" cy="47250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TARGET: </a:t>
            </a:r>
            <a:r>
              <a:rPr i="0" lang="en" sz="1100" u="none" cap="none" strike="noStrike">
                <a:solidFill>
                  <a:srgbClr val="E8D5FF"/>
                </a:solidFill>
                <a:latin typeface="Montserrat"/>
                <a:ea typeface="Montserrat"/>
                <a:cs typeface="Montserrat"/>
                <a:sym typeface="Montserrat"/>
              </a:rPr>
              <a:t>Reduce dropout in flagged cohort by 5pp within one term, with positive EV and 90%+ follow-up rate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RISKS, ETHICS &amp; NEXT STEPS</a:t>
            </a:r>
            <a:endParaRPr/>
          </a:p>
        </p:txBody>
      </p:sp>
      <p:sp>
        <p:nvSpPr>
          <p:cNvPr id="305" name="Google Shape;305;p8"/>
          <p:cNvSpPr txBox="1"/>
          <p:nvPr>
            <p:ph idx="1" type="body"/>
          </p:nvPr>
        </p:nvSpPr>
        <p:spPr>
          <a:xfrm>
            <a:off x="311700" y="1500000"/>
            <a:ext cx="8500000" cy="3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800">
                <a:solidFill>
                  <a:srgbClr val="57068C"/>
                </a:solidFill>
              </a:rPr>
              <a:t>What this analysis can and cannot do</a:t>
            </a:r>
            <a:endParaRPr sz="1700"/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rgbClr val="57068C"/>
                </a:solidFill>
              </a:rPr>
              <a:t>Analytical limits.  </a:t>
            </a:r>
            <a:r>
              <a:rPr lang="en" sz="1300"/>
              <a:t>Predictive, not causal. Mental health, housing burden, and family obligations are not in the data — omitted-variable bias affects feature interpretation.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rgbClr val="57068C"/>
                </a:solidFill>
              </a:rPr>
              <a:t>Fairness.  </a:t>
            </a:r>
            <a:r>
              <a:rPr lang="en" sz="1300"/>
              <a:t>First-gen students drop out at 35.7% vs 21.6%. Audit the model per term to ensure it does not reinforce the very disparity it’s meant to address.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</a:pPr>
            <a:r>
              <a:rPr b="1" lang="en" sz="1300">
                <a:solidFill>
                  <a:srgbClr val="57068C"/>
                </a:solidFill>
              </a:rPr>
              <a:t>Governance.  </a:t>
            </a:r>
            <a:r>
              <a:rPr lang="en" sz="1300"/>
              <a:t>The model screens; advisors decide. Every flagged student passes through human review before action.</a:t>
            </a:r>
            <a:endParaRPr sz="1400"/>
          </a:p>
          <a:p>
            <a:pPr indent="0" lvl="0" marL="0" rtl="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  <a:buSzPts val="1200"/>
              <a:buNone/>
            </a:pPr>
            <a:r>
              <a:rPr b="1" lang="en" sz="1600">
                <a:solidFill>
                  <a:srgbClr val="57068C"/>
                </a:solidFill>
              </a:rPr>
              <a:t>Next step:</a:t>
            </a:r>
            <a:r>
              <a:rPr lang="en" sz="1600"/>
              <a:t>  </a:t>
            </a:r>
            <a:r>
              <a:rPr b="1" lang="en" sz="1600"/>
              <a:t>Pilot with a randomized control group inside the flagged cohort. Scale only if retention lift and EV are demonstrated.</a:t>
            </a:r>
            <a:endParaRPr b="1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